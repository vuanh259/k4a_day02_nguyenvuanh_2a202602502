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46DED7-EFB0-417B-894C-0F80FD16B3E4}">
  <a:tblStyle styleId="{5746DED7-EFB0-417B-894C-0F80FD16B3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8.png"/><Relationship Id="rId11" Type="http://schemas.openxmlformats.org/officeDocument/2006/relationships/image" Target="../media/image13.png"/><Relationship Id="rId10" Type="http://schemas.openxmlformats.org/officeDocument/2006/relationships/image" Target="../media/image3.png"/><Relationship Id="rId21" Type="http://schemas.openxmlformats.org/officeDocument/2006/relationships/image" Target="../media/image46.png"/><Relationship Id="rId13" Type="http://schemas.openxmlformats.org/officeDocument/2006/relationships/image" Target="../media/image10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15" Type="http://schemas.openxmlformats.org/officeDocument/2006/relationships/image" Target="../media/image17.png"/><Relationship Id="rId14" Type="http://schemas.openxmlformats.org/officeDocument/2006/relationships/image" Target="../media/image18.png"/><Relationship Id="rId17" Type="http://schemas.openxmlformats.org/officeDocument/2006/relationships/image" Target="../media/image39.png"/><Relationship Id="rId16" Type="http://schemas.openxmlformats.org/officeDocument/2006/relationships/image" Target="../media/image16.png"/><Relationship Id="rId5" Type="http://schemas.openxmlformats.org/officeDocument/2006/relationships/image" Target="../media/image7.png"/><Relationship Id="rId19" Type="http://schemas.openxmlformats.org/officeDocument/2006/relationships/image" Target="../media/image19.png"/><Relationship Id="rId6" Type="http://schemas.openxmlformats.org/officeDocument/2006/relationships/image" Target="../media/image12.png"/><Relationship Id="rId18" Type="http://schemas.openxmlformats.org/officeDocument/2006/relationships/image" Target="../media/image36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6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51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41.png"/><Relationship Id="rId5" Type="http://schemas.openxmlformats.org/officeDocument/2006/relationships/image" Target="../media/image47.png"/><Relationship Id="rId6" Type="http://schemas.openxmlformats.org/officeDocument/2006/relationships/image" Target="../media/image44.png"/><Relationship Id="rId7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43.png"/><Relationship Id="rId5" Type="http://schemas.openxmlformats.org/officeDocument/2006/relationships/image" Target="../media/image37.png"/><Relationship Id="rId6" Type="http://schemas.openxmlformats.org/officeDocument/2006/relationships/image" Target="../media/image45.png"/><Relationship Id="rId7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1550" y="2538412"/>
            <a:ext cx="2628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01294" y="3033712"/>
            <a:ext cx="77894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Lọc &amp; Ưu Tiên Tin Nhắn </a:t>
            </a:r>
            <a:r>
              <a:rPr b="1" i="0" lang="en-US" sz="37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Discord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95500" y="3776662"/>
            <a:ext cx="8001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Giải pháp kết hợp AI hiểu ngữ cảnh và Rule-based scoring giúp sinh viên phát hiện deadline, task trọng tâm và giảm 60% thời gian xử lý tin nhắn rác.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9727" y="2343150"/>
            <a:ext cx="8323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801525" y="2838450"/>
            <a:ext cx="658894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Khảo Sát &amp; Xác Thực Nhu Cầu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0" y="3648075"/>
            <a:ext cx="762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762250" y="3876675"/>
            <a:ext cx="6667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Thu thập dữ liệu từ phỏng vấn sâu, khảo sát mẫu và phân tích quy trình cá nhân để xác định chính xác nút thắt cổ chai của sinh viên.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434828"/>
            <a:ext cx="5448300" cy="27598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434828"/>
            <a:ext cx="5448300" cy="2759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90575" y="2672953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Kết Quả Validation Thực Tế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90575" y="3073003"/>
            <a:ext cx="49339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Nghiên cứu qua phỏng vấn 3 sinh viên và khảo sát nhanh 8 sinh viên: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467475" y="2672953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Pain Point Thật Nằm Ở Đâu?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467475" y="3073003"/>
            <a:ext cx="49339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Nỗi đau không nằm ở số lượng notification, mà ở </a:t>
            </a: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gánh nặng nhận thức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81075" y="3375421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Tần suất cao: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6/8 sinh viên mở Discord kiểm tra từ 5 lần/ngày trở lên.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81075" y="3670696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Tỷ lệ bỏ sót: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5/8 sinh viên từng bỏ sót hoặc nộp muộn bài tập/lịch học do tin nhắn bị trôi.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81075" y="4165996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Lãng phí thời gian: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Dành 20–30 phút/ngày chỉ để lướt tìm tin tức quan trọng.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81075" y="4461271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Giới hạn tính năng: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Notification và Mute chỉ xử lý được bề nổi, không hiểu nội dung bên trong.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57975" y="3375421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"Nhiều lúc task nhóm không ghi rõ chữ deadline, chỉ nhắn cố xong trước buổi demo nên mình phải đọc kỹ mới biết việc gấp."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657975" y="3870721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"Có hôm thông báo deadline nằm giữa nhiều tin nhắn nên mình đọc muộn."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657975" y="4165996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Định hình vấn đề: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Hệ thống cần tập trung nhận diện tin nhắn chứa hành động (Actionable) thay vì cố lọc toàn bộ Discord.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334684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364212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9625" y="413742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443269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86525" y="334684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486525" y="384214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86525" y="413742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33400" y="457200"/>
            <a:ext cx="11658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Dữ Liệu Khảo Sát &amp; Pain Point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33400" y="1009650"/>
            <a:ext cx="111252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5440" y="2343150"/>
            <a:ext cx="86097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2745584" y="2838450"/>
            <a:ext cx="6700681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Mô Hình Đa Tín Hiệu &amp; Ưu Tiên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0" y="3648075"/>
            <a:ext cx="762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2762250" y="3876675"/>
            <a:ext cx="6667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Không đánh giá cảm tính dựa trên một yếu tố đơn lẻ. Hệ thống phân tích 6 chiều tín hiệu để xác định chính xác độ quan trọng đối với sinh viên.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846064"/>
            <a:ext cx="3594050" cy="1882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8900" y="1846064"/>
            <a:ext cx="3594050" cy="1882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846064"/>
            <a:ext cx="3594199" cy="1882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3900487"/>
            <a:ext cx="3594050" cy="1882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8900" y="3900487"/>
            <a:ext cx="3594050" cy="1882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4400" y="3900487"/>
            <a:ext cx="3594199" cy="1882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206513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52475" y="2617589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Người Gửi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52475" y="2950964"/>
            <a:ext cx="31559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Giảng viên, TA hoặc Teammate trực tiếp nắm vai trò then chốt; tin nhắn từ thành viên này luôn có độ ưu tiên cao hơn.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17975" y="206513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4517975" y="2617589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Kênh Thảo Luận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517975" y="2950964"/>
            <a:ext cx="31559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Kênh Announcement, môn học hoặc channel dự án được đặt trọng số cao; loại trừ tiếng ồn từ general/casual chat.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83475" y="206513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283475" y="2617589"/>
            <a:ext cx="331385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Nội Dung &amp; Hành Động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283475" y="2950964"/>
            <a:ext cx="3156049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Kiểm tra các thực thể trọng tâm: assignment, deadline, lịch thi, meeting và các yêu cầu thực hiện hành động cụ thể.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2475" y="411956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52475" y="4672012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Mức Độ Liên Quan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52475" y="5005387"/>
            <a:ext cx="31559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Xác định sinh viên có được direct mention (@), được phân chia task riêng hoặc thuộc môn/project đang học hay không.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17975" y="411956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4517975" y="4672012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Tính Khẩn Cấp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517975" y="5005387"/>
            <a:ext cx="31559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Hạn chót dưới 24h kích hoạt mức báo động tối đa; thời hạn 1–3 ngày nằm ở mức ưu tiên trung bình đến cao.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83475" y="411956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8283475" y="4672012"/>
            <a:ext cx="331385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 Biến Động Kế Hoạch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283475" y="5005387"/>
            <a:ext cx="3156049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Nhận diện biến động so với lịch cũ: dời deadline, đổi giờ meeting hoặc task phát sinh làm thay đổi kế hoạch hiện tại.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1537" y="2169914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22750" y="216991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373963" y="2169914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52487" y="4224337"/>
            <a:ext cx="2190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637037" y="422433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388250" y="422433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33400" y="457200"/>
            <a:ext cx="11658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6 Tín Hiệu Nhận Diện Tin Nhắn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33400" y="1009650"/>
            <a:ext cx="111252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533400" y="2059781"/>
            <a:ext cx="11125200" cy="3509962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18"/>
          <p:cNvGraphicFramePr/>
          <p:nvPr/>
        </p:nvGraphicFramePr>
        <p:xfrm>
          <a:off x="533400" y="20597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{5746DED7-EFB0-417B-894C-0F80FD16B3E4}</a:tableStyleId>
              </a:tblPr>
              <a:tblGrid>
                <a:gridCol w="4449950"/>
                <a:gridCol w="2781300"/>
                <a:gridCol w="3893950"/>
              </a:tblGrid>
              <a:tr h="50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1E29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Tín Hiệu Đánh Giá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1E29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Trọng Số Điểm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1E29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Ý Nghĩa Phân Loại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0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Người gửi: Giảng viên / Trợ giảng (TA)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+3 Điểm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Priority (≥ 8đ)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Gửi alert tức thì, đẩy lên đầu danh sách cần xử lý.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Có yêu cầu hành động / Nộp bài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+3 Điểm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Mention trực tiếp sinh viên / Deadline &lt; 24h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+3 Điểm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Người gửi: Teammate phụ trách task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+2 Điểm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 Priority (4–7đ)</a:t>
                      </a:r>
                      <a:b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Đưa vào bản tin tổng hợp (Daily Digest) trong ngày.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Có mốc deadline cụ thể (1–3 ngày tới)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+2 Điểm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Liên quan chung môn học / Project đang theo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+1 Điểm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 Priority (0–3đ)</a:t>
                      </a:r>
                      <a:b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Chỉ lưu log, không spam thông báo đến sinh viên.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18"/>
          <p:cNvSpPr/>
          <p:nvPr/>
        </p:nvSpPr>
        <p:spPr>
          <a:xfrm>
            <a:off x="533400" y="2490787"/>
            <a:ext cx="4449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983360" y="2490787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764660" y="2490787"/>
            <a:ext cx="38939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33400" y="2978943"/>
            <a:ext cx="4449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983360" y="2978943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7764660" y="3955256"/>
            <a:ext cx="38939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33400" y="3467100"/>
            <a:ext cx="4449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4983360" y="3467100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33400" y="3955256"/>
            <a:ext cx="4449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983360" y="3955256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533400" y="4443412"/>
            <a:ext cx="4449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983360" y="4443412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7764660" y="4931568"/>
            <a:ext cx="38939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33400" y="4931568"/>
            <a:ext cx="4449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983360" y="4931568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33400" y="5555456"/>
            <a:ext cx="4449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4983360" y="5555456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7764660" y="5555456"/>
            <a:ext cx="38939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4810" y="2619375"/>
            <a:ext cx="65975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6110" y="3030140"/>
            <a:ext cx="12730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4810" y="3107531"/>
            <a:ext cx="65975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4810" y="3595687"/>
            <a:ext cx="65975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4810" y="4083843"/>
            <a:ext cx="65975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36110" y="4250531"/>
            <a:ext cx="1535906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54810" y="4572000"/>
            <a:ext cx="65975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54810" y="5128021"/>
            <a:ext cx="65975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936110" y="5050631"/>
            <a:ext cx="1297781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533400" y="457200"/>
            <a:ext cx="11658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 Trận Điểm Số Priority Score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533400" y="1009650"/>
            <a:ext cx="111252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634853"/>
            <a:ext cx="5448300" cy="2359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634853"/>
            <a:ext cx="5448300" cy="235981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790575" y="2872978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Case 1: Deadline Gấp Từ Giảng Viên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790575" y="3273028"/>
            <a:ext cx="49339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"Assignment 2 phải nộp trước 23:59 ngày mai."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467475" y="2872978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Case 2: Teammate Giao Task Ẩn Mốc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467475" y="3273028"/>
            <a:ext cx="49339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"@VietAnh phần model của m cố xong trước demo sáng mai nhé."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81075" y="3575446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Người gửi: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Giảng viên (+3 điểm)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981075" y="3870721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Yêu cầu: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Nộp bài tập bắt buộc (+3 điểm)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981075" y="4165996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Thời hạn: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Dưới 24 giờ (+3) &amp; có mốc giờ (+2)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981075" y="4461271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Kết quả: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657975" y="3575446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Ngữ cảnh: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Direct mention (@VietAnh: +3) &amp; Teammate (+2)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657975" y="3870721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Hiểu ngữ nghĩa: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AI hiểu "trước demo" là hạn chót ngầm (+2)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657975" y="4165996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Khẩn cấp: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"Sáng mai" tương đương &lt; 24h (+3), Giao task (+3)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657975" y="4461271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Kết quả: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809625" y="354687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09625" y="384214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809625" y="413742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809625" y="443269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descr="image.png" id="229" name="Google Shape;22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9981" y="4451746"/>
            <a:ext cx="162788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/>
        </p:nvSpPr>
        <p:spPr>
          <a:xfrm>
            <a:off x="6486525" y="354687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486525" y="384214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6486525" y="413742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486525" y="443269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descr="image.png" id="234" name="Google Shape;23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6881" y="4451746"/>
            <a:ext cx="162788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533400" y="457200"/>
            <a:ext cx="11658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Case Study Phân Tích Thực Tế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533400" y="1009650"/>
            <a:ext cx="111252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5440" y="2343150"/>
            <a:ext cx="86097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2518369" y="2838450"/>
            <a:ext cx="7155113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Kiến Trúc &amp; Khả Năng Kiểm Soát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5715000" y="3648075"/>
            <a:ext cx="762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2762250" y="3876675"/>
            <a:ext cx="6667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Sự phối hợp chặt chẽ giữa AI trích xuất thực thể, bộ quy tắc chấm điểm minh bạch và nguyên tắc con người nắm quyền quyết định cuối cùng.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533400" y="457200"/>
            <a:ext cx="564070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Mô Hình Hybrid: AI + Rules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533400" y="1009650"/>
            <a:ext cx="53721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533400" y="3048000"/>
            <a:ext cx="56407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Phân Định Rõ Ràng Trách Nhiệm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533400" y="3476625"/>
            <a:ext cx="53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đóng vai trò thấu hiểu ngữ cảnh tự nhiên, bóc tách thực thể ngầm (như "trước demo sáng mai") mà không cần từ khóa cứng.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533400" y="4029075"/>
            <a:ext cx="53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Hệ thống Rule tính Priority Score giúp điểm số minh bạch, giải thích được lý do và loại bỏ hoàn toàn rủi ro hallucination.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043362"/>
            <a:ext cx="2447478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5874" y="2652712"/>
            <a:ext cx="2447478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8349" y="4043362"/>
            <a:ext cx="2447478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10823" y="2652712"/>
            <a:ext cx="2447478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/>
          <p:nvPr/>
        </p:nvSpPr>
        <p:spPr>
          <a:xfrm>
            <a:off x="533400" y="3795712"/>
            <a:ext cx="111252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602229" y="4205287"/>
            <a:ext cx="23098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1. Nhận Tin Nhắn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657225" y="4481512"/>
            <a:ext cx="21998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Agent thu thập tin từ channel được cấp phép theo quy tắc bảo mật.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3494703" y="2814637"/>
            <a:ext cx="23098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2. AI Extraction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3549699" y="3090862"/>
            <a:ext cx="21998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Bóc tách người gửi, intent, task, deadline và độ liên quan cá nhân.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387178" y="4205287"/>
            <a:ext cx="23098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3. Rule Scoring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442174" y="4481512"/>
            <a:ext cx="21998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Tính Priority Score minh bạch và phân loại High / Med / Low.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9279653" y="2814637"/>
            <a:ext cx="23098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4. Human Confirm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9334648" y="3090862"/>
            <a:ext cx="21998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Sinh viên duyệt qua Action Card trước khi sync vào Todo/Calendar.</a:t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1661889" y="37195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4554363" y="37195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7446838" y="37195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10339313" y="37195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533400" y="457200"/>
            <a:ext cx="11658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Luồng Xử Lý End-to-End</a:t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533400" y="1009650"/>
            <a:ext cx="111252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674143"/>
            <a:ext cx="5448300" cy="2281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674143"/>
            <a:ext cx="5448300" cy="228123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790575" y="2912268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Ranh Giới An Toàn (Human Boundary)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790575" y="3312318"/>
            <a:ext cx="493395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Agent hoạt động như một trợ lý đề xuất, không bao giờ tự ý hành động vượt thẩm quyền của sinh viên: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467475" y="2912268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Cơ Chế Phục Hồi &amp; Học Hỏi (Fallback)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467475" y="3312318"/>
            <a:ext cx="49339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Đảm bảo an toàn tuyệt đối khi AI gặp sự mơ hồ hoặc trích xuất chưa chuẩn xác: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981075" y="3821906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Không tự ý chỉnh sửa deadline hay tạo lịch chính thức nếu chưa bấm Confirm.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981075" y="4117181"/>
            <a:ext cx="4743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Hiển thị thẻ Action Card rõ ràng: [Xác nhận] [Chỉnh sửa] [Bỏ qua].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981075" y="4421981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Sinh viên luôn giữ vai trò người phê duyệt tối cao (Human-in-the-loop).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657975" y="3614737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Luôn hiển thị kèm tin nhắn gốc để sinh viên đối chiếu tức thời.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657975" y="391001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Cho phép sinh viên ghi đè mức độ ưu tiên hoặc sửa ngày giờ thủ công.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657975" y="4205287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Phản hồi chỉnh sửa được dùng để tinh chỉnh trọng số scoring trong tương lai.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809625" y="379333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809625" y="408860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809625" y="439340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6486525" y="35861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6486525" y="38814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6486525" y="41767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533400" y="457200"/>
            <a:ext cx="11658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Kiểm Soát &amp; Cơ Chế Fallback</a:t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533400" y="1009650"/>
            <a:ext cx="111252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0" name="Google Shape;3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5915" y="2343150"/>
            <a:ext cx="88002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2615096" y="2838450"/>
            <a:ext cx="696180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Đánh Giá Hiệu Quả Trước &amp; Sau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5715000" y="3648075"/>
            <a:ext cx="762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2762250" y="3876675"/>
            <a:ext cx="6667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So sánh toàn diện quy trình làm việc thực tế, định lượng thời gian tiết kiệm và cơ chế kiểm soát các rủi ro vận hành mới.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534840"/>
            <a:ext cx="5448300" cy="255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534840"/>
            <a:ext cx="5448300" cy="255984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790575" y="2772965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Quy Trình Thủ Công (~25')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790575" y="3173015"/>
            <a:ext cx="49339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Sinh viên tự thực hiện toàn bộ chuỗi 7 bước lặp lại liên tục trong ngày: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6467475" y="2772965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Quy Trình Tự Động Hóa (&lt;10')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6467475" y="3173015"/>
            <a:ext cx="49339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Hệ thống tự động hóa 6/7 bước, sinh viên chỉ đóng vai trò người duyệt:</a:t>
            </a:r>
            <a:endParaRPr/>
          </a:p>
        </p:txBody>
      </p:sp>
      <p:pic>
        <p:nvPicPr>
          <p:cNvPr descr="image.png" id="326" name="Google Shape;32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2299690"/>
            <a:ext cx="602009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/>
        </p:nvSpPr>
        <p:spPr>
          <a:xfrm>
            <a:off x="981075" y="3475434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Mở &amp; rà soát channel: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8–10 lần/ngày gây đứt gãy tập trung (~7 phút).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981075" y="3770709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Đọc &amp; lọc tin nhắn: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Nút thắt lớn nhất — tự phân tích nội dung rác và quan trọng (~15 phút).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981075" y="4266009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Trích xuất &amp; lưu task: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Ghi nhớ hoặc chép tay vào Todo/Lịch (~3 phút).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981075" y="4561284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Hệ quả: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Dễ bỏ sót thông báo gấp nằm giữa luồng chat nhóm.</a:t>
            </a:r>
            <a:endParaRPr/>
          </a:p>
        </p:txBody>
      </p:sp>
      <p:pic>
        <p:nvPicPr>
          <p:cNvPr descr="image.png" id="331" name="Google Shape;33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285390"/>
            <a:ext cx="4000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5"/>
          <p:cNvSpPr txBox="1"/>
          <p:nvPr/>
        </p:nvSpPr>
        <p:spPr>
          <a:xfrm>
            <a:off x="6657975" y="3475434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Tự động phân loại: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Agent quét và tính điểm ngay khi có tin nhắn mới.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6657975" y="3770709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Giải phóng nhận thức: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Không cần đọc toàn bộ tin nhắn để tìm deadline ngầm.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6657975" y="4065984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 Thao tác duy nhất: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Xem Action Card tổng hợp và bấm Confirm/Edit.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657975" y="4361259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Đồng bộ tự động: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Task và Calendar được cập nhật chính xác sau khi duyệt.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809625" y="344685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809625" y="3742134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809625" y="4237434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809625" y="453270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6486525" y="344685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6486525" y="3742134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6486525" y="403740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6486525" y="4332684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533400" y="457200"/>
            <a:ext cx="11658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 Sánh Quy Trình Làm Việc</a:t>
            </a: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533400" y="1009650"/>
            <a:ext cx="111252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/>
          <p:nvPr/>
        </p:nvSpPr>
        <p:spPr>
          <a:xfrm>
            <a:off x="533400" y="2100262"/>
            <a:ext cx="11125200" cy="3429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2" name="Google Shape;352;p26"/>
          <p:cNvGraphicFramePr/>
          <p:nvPr/>
        </p:nvGraphicFramePr>
        <p:xfrm>
          <a:off x="533400" y="21002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{5746DED7-EFB0-417B-894C-0F80FD16B3E4}</a:tableStyleId>
              </a:tblPr>
              <a:tblGrid>
                <a:gridCol w="2447475"/>
                <a:gridCol w="2447475"/>
                <a:gridCol w="2669975"/>
                <a:gridCol w="3560275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>
                          <a:solidFill>
                            <a:srgbClr val="1E29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Chỉ Số Đo Lường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>
                          <a:solidFill>
                            <a:srgbClr val="1E29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Trước (Thủ Công)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>
                          <a:solidFill>
                            <a:srgbClr val="1E29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Sau (Kỳ Vọng)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>
                          <a:solidFill>
                            <a:srgbClr val="1E29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Đánh Giá &amp; Quản Trị Rủi 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Thời gian kiểm tra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– 30 phút/ngày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10 phút/ngày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Tiết kiệm hơn </a:t>
                      </a:r>
                      <a:r>
                        <a:rPr b="1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60% thời gian</a:t>
                      </a: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mỗi ngày cho sinh viên.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Tần suất ngắt quãng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– 10 lần/ngày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 – 4 lần/ngày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Giảm phân tán tư duy, chỉ nhận alert khi điểm Priority ≥ 8.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Số bước thủ công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7/7 bước do người làm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bước (Review &amp; Duyệt)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Tự động hóa toàn bộ khâu đọc, lọc, bóc tách thực thể và sync.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Nút thắt cổ chai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Đọc, hiểu &amp; tìm task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Xác nhận Action Card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Chuyển từ "tìm kiếm thông tin" sang "phê duyệt đề xuất".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Rủi ro &amp; Xử lý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Trôi tin, quên deadline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phân loại sai / Ảo giác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Quản trị qua </a:t>
                      </a:r>
                      <a:r>
                        <a:rPr b="0" i="1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Fallback</a:t>
                      </a:r>
                      <a:r>
                        <a:rPr b="0" i="0" lang="en-US" sz="1012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: Luôn đính kèm tin gốc &amp; cho phép Edit.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3" name="Google Shape;353;p26"/>
          <p:cNvSpPr/>
          <p:nvPr/>
        </p:nvSpPr>
        <p:spPr>
          <a:xfrm>
            <a:off x="533400" y="2531268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2980878" y="2531268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5428357" y="2531268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8098333" y="2531268"/>
            <a:ext cx="356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533400" y="3019425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2980878" y="3019425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5428357" y="3019425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8098333" y="3019425"/>
            <a:ext cx="356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533400" y="3643312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2980878" y="3643312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5428357" y="3643312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8098333" y="3643312"/>
            <a:ext cx="356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533400" y="4267200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2980878" y="4267200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5428357" y="4267200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8098333" y="4267200"/>
            <a:ext cx="356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533400" y="4891087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2980878" y="4891087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5428357" y="4891087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8098333" y="4891087"/>
            <a:ext cx="356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533400" y="5514975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2980878" y="5514975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5428357" y="5514975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8098333" y="5514975"/>
            <a:ext cx="356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 txBox="1"/>
          <p:nvPr/>
        </p:nvSpPr>
        <p:spPr>
          <a:xfrm>
            <a:off x="533400" y="457200"/>
            <a:ext cx="11658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 Trận Đo Lường Hiệu Quả</a:t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533400" y="1009650"/>
            <a:ext cx="111252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3" name="Google Shape;3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9164" y="4124325"/>
            <a:ext cx="4613671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7"/>
          <p:cNvSpPr txBox="1"/>
          <p:nvPr/>
        </p:nvSpPr>
        <p:spPr>
          <a:xfrm>
            <a:off x="3013587" y="2314575"/>
            <a:ext cx="616467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Hỏi &amp; Đáp Thảo Luận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3000375" y="3324225"/>
            <a:ext cx="6191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Hệ thống hỗ trợ sinh viên quản lý áp lực thông tin hiệu quả và chính xác hơn mỗi ngày.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